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jeaLuChGkrt96PFyutSs0uKufd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F17DE3-FC8E-47CB-9663-A69A20EEB18D}">
  <a:tblStyle styleId="{CBF17DE3-FC8E-47CB-9663-A69A20EEB1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Similar to Mode 0 output operation, except that handshaking signals are provided using port 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Signal Definitions for Mode 1 Strobed Output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4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8" name="Google Shape;68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8255 PPI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Programmable Peripheral Interface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1600200" y="533400"/>
            <a:ext cx="510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Intel 8255 PPI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3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772400"/>
              </a:tblGrid>
              <a:tr h="391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PPI – Programmable Peripheral Interface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 an I/O port chip used for interfacing I/O devices with microprocessor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commonly used peripheral chip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of 8255 essential for students in the Microprocessors lab for Interfacing experiments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75" marB="45675" marR="91450" marL="91450"/>
                </a:tc>
              </a:tr>
            </a:tbl>
          </a:graphicData>
        </a:graphic>
      </p:graphicFrame>
      <p:sp>
        <p:nvSpPr>
          <p:cNvPr id="98" name="Google Shape;98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0" y="914400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PPI contd.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925500"/>
                <a:gridCol w="1028700"/>
                <a:gridCol w="5894375"/>
              </a:tblGrid>
              <a:tr h="19685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ports in 8255 from user’s point of view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Port A, Port B and Port C.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C composed of two independent 4-bit ports - PC7-4 (PC Upper) and PC3-0 (PC Lower)</a:t>
                      </a:r>
                      <a:endParaRPr/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Selected port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A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port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PIO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has </a:t>
            </a:r>
            <a:r>
              <a:rPr b="0" i="0" lang="en-US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24 I/O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lines which are individually programmed in </a:t>
            </a:r>
            <a:r>
              <a:rPr b="0" i="0" lang="en-US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two groups of 12 lines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or 3 groups of eight lines.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groups of I/O pins are named as group A and Group B.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 contains 8 bit Port A PA0 – PA7 and 4 bit port C PC7-PC4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 contains 8 bit Port B PB0 – PB7 and 4 bit port C PC3-PC0.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Port C Upper and Lower can be used in combination as an 8 bit Port C.</a:t>
            </a:r>
            <a:endParaRPr/>
          </a:p>
          <a:p>
            <a:pPr indent="-1524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althazar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Balthazar"/>
                <a:ea typeface="Balthazar"/>
                <a:cs typeface="Balthazar"/>
                <a:sym typeface="Balthazar"/>
              </a:rPr>
              <a:t>8255 -PPI</a:t>
            </a:r>
            <a:endParaRPr/>
          </a:p>
        </p:txBody>
      </p:sp>
      <p:sp>
        <p:nvSpPr>
          <p:cNvPr id="118" name="Google Shape;118;p6"/>
          <p:cNvSpPr txBox="1"/>
          <p:nvPr>
            <p:ph idx="4294967295" type="body"/>
          </p:nvPr>
        </p:nvSpPr>
        <p:spPr>
          <a:xfrm>
            <a:off x="457200" y="1371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Programmable Peripheral Interface</a:t>
            </a:r>
            <a:endParaRPr/>
          </a:p>
          <a:p>
            <a:pPr indent="-18415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512" y="1450975"/>
            <a:ext cx="9272587" cy="53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ports can function independently either as input or as output ports.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can be achieved by programming the bits of an internal register of 8255 called as </a:t>
            </a:r>
            <a:r>
              <a:rPr b="0" i="0" lang="en-US" sz="24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Control Word Register CWR.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24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read/write control logic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all of the internal and external transfer of both data and control word.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24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8 bit, 3 state bidirectional buffer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interface the 8255 internal data bus with the external system data bus.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 diagram</a:t>
            </a:r>
            <a:endParaRPr/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524000"/>
            <a:ext cx="6524625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8255 Programmable Peripheral Interface (cont.)</a:t>
            </a:r>
            <a:endParaRPr/>
          </a:p>
        </p:txBody>
      </p:sp>
      <p:pic>
        <p:nvPicPr>
          <p:cNvPr descr="c:\windows\TEMP\~AUT0134.bmp" id="137" name="Google Shape;13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975" y="1339850"/>
            <a:ext cx="6831012" cy="51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82C55A Programmable Peripheral Interface (cont.)</a:t>
            </a:r>
            <a:endParaRPr/>
          </a:p>
        </p:txBody>
      </p:sp>
      <p:pic>
        <p:nvPicPr>
          <p:cNvPr descr="c:\windows\TEMP\~AUT0135.bmp" id="143" name="Google Shape;14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295400"/>
            <a:ext cx="5838825" cy="492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533400" y="1524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Word Register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90600"/>
            <a:ext cx="8382000" cy="5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althazar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Balthazar"/>
                <a:ea typeface="Balthazar"/>
                <a:cs typeface="Balthazar"/>
                <a:sym typeface="Balthazar"/>
              </a:rPr>
              <a:t>8255 –PPI  Modes of Operation</a:t>
            </a:r>
            <a:endParaRPr/>
          </a:p>
        </p:txBody>
      </p:sp>
      <p:sp>
        <p:nvSpPr>
          <p:cNvPr id="156" name="Google Shape;156;p12"/>
          <p:cNvSpPr txBox="1"/>
          <p:nvPr>
            <p:ph idx="4294967295" type="body"/>
          </p:nvPr>
        </p:nvSpPr>
        <p:spPr>
          <a:xfrm>
            <a:off x="457200" y="1371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Programmable Peripheral Interface</a:t>
            </a:r>
            <a:endParaRPr/>
          </a:p>
          <a:p>
            <a:pPr indent="-18415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7" name="Google Shape;157;p12"/>
          <p:cNvGrpSpPr/>
          <p:nvPr/>
        </p:nvGrpSpPr>
        <p:grpSpPr>
          <a:xfrm>
            <a:off x="1822450" y="2073275"/>
            <a:ext cx="6930866" cy="4462429"/>
            <a:chOff x="1148" y="1306"/>
            <a:chExt cx="2916" cy="1164"/>
          </a:xfrm>
        </p:grpSpPr>
        <p:cxnSp>
          <p:nvCxnSpPr>
            <p:cNvPr id="158" name="Google Shape;158;p12"/>
            <p:cNvCxnSpPr/>
            <p:nvPr/>
          </p:nvCxnSpPr>
          <p:spPr>
            <a:xfrm rot="10800000">
              <a:off x="2696" y="2170"/>
              <a:ext cx="900" cy="0"/>
            </a:xfrm>
            <a:prstGeom prst="bentConnector3">
              <a:avLst>
                <a:gd fmla="val 974819" name="adj1"/>
              </a:avLst>
            </a:prstGeom>
            <a:solidFill>
              <a:srgbClr val="FFFFF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9" name="Google Shape;159;p12"/>
            <p:cNvCxnSpPr/>
            <p:nvPr/>
          </p:nvCxnSpPr>
          <p:spPr>
            <a:xfrm>
              <a:off x="2589" y="2170"/>
              <a:ext cx="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60" name="Google Shape;160;p12"/>
            <p:cNvCxnSpPr/>
            <p:nvPr/>
          </p:nvCxnSpPr>
          <p:spPr>
            <a:xfrm>
              <a:off x="1580" y="2170"/>
              <a:ext cx="900" cy="0"/>
            </a:xfrm>
            <a:prstGeom prst="bentConnector3">
              <a:avLst>
                <a:gd fmla="val 974819" name="adj1"/>
              </a:avLst>
            </a:prstGeom>
            <a:solidFill>
              <a:srgbClr val="FFFFF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61" name="Google Shape;161;p12"/>
            <p:cNvCxnSpPr/>
            <p:nvPr/>
          </p:nvCxnSpPr>
          <p:spPr>
            <a:xfrm rot="10800000">
              <a:off x="1989" y="1738"/>
              <a:ext cx="600" cy="0"/>
            </a:xfrm>
            <a:prstGeom prst="bentConnector3">
              <a:avLst>
                <a:gd fmla="val 674897" name="adj1"/>
              </a:avLst>
            </a:prstGeom>
            <a:solidFill>
              <a:srgbClr val="FFFFF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62" name="Google Shape;162;p12"/>
            <p:cNvCxnSpPr/>
            <p:nvPr/>
          </p:nvCxnSpPr>
          <p:spPr>
            <a:xfrm>
              <a:off x="1580" y="1738"/>
              <a:ext cx="600" cy="0"/>
            </a:xfrm>
            <a:prstGeom prst="bentConnector3">
              <a:avLst>
                <a:gd fmla="val 675244" name="adj1"/>
              </a:avLst>
            </a:prstGeom>
            <a:solidFill>
              <a:srgbClr val="FFFFFF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63" name="Google Shape;163;p12"/>
            <p:cNvSpPr/>
            <p:nvPr/>
          </p:nvSpPr>
          <p:spPr>
            <a:xfrm>
              <a:off x="1652" y="1306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Modes</a:t>
              </a:r>
              <a:endParaRPr/>
            </a:p>
          </p:txBody>
        </p:sp>
        <p:sp>
          <p:nvSpPr>
            <p:cNvPr id="164" name="Google Shape;164;p12"/>
            <p:cNvSpPr/>
            <p:nvPr/>
          </p:nvSpPr>
          <p:spPr>
            <a:xfrm>
              <a:off x="1148" y="1738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BSR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BIT SET-REST</a:t>
              </a:r>
              <a:endParaRPr/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2156" y="1738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I/O MODE</a:t>
              </a:r>
              <a:endParaRPr/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1148" y="2170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I/O Mode</a:t>
              </a:r>
              <a:endParaRPr/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2156" y="2170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Strobed I/O Mode</a:t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3164" y="2170"/>
              <a:ext cx="900" cy="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 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Strobed Bidirectional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n-US" sz="17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I/O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914400" y="274637"/>
            <a:ext cx="7772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Modes of operation of 8255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914400" y="10668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modes of operation of 8255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I/O mode and 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 Bit Set Reset Mode (BSR)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I/O mode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 as programmable I/O ports while </a:t>
            </a:r>
            <a:r>
              <a:rPr b="0" i="0" lang="en-US" sz="32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BSR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 only port C (PC0 to PC7) can be used to set and reset its individual port bits.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 I/O mode there are 3 modes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 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 1 and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 2.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814387"/>
            <a:ext cx="7772400" cy="474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BSR MODE</a:t>
            </a:r>
            <a:endParaRPr/>
          </a:p>
        </p:txBody>
      </p:sp>
      <p:pic>
        <p:nvPicPr>
          <p:cNvPr id="185" name="Google Shape;18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133600"/>
            <a:ext cx="8610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type="title"/>
          </p:nvPr>
        </p:nvSpPr>
        <p:spPr>
          <a:xfrm>
            <a:off x="533400" y="274637"/>
            <a:ext cx="81534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I/O Mode</a:t>
            </a:r>
            <a:endParaRPr/>
          </a:p>
        </p:txBody>
      </p:sp>
      <p:pic>
        <p:nvPicPr>
          <p:cNvPr id="191" name="Google Shape;19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95400"/>
            <a:ext cx="83058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82C55</a:t>
            </a:r>
            <a:endParaRPr/>
          </a:p>
        </p:txBody>
      </p:sp>
      <p:pic>
        <p:nvPicPr>
          <p:cNvPr descr="8086_IO2-3" id="197" name="Google Shape;19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2" y="1590675"/>
            <a:ext cx="7786687" cy="505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/>
        </p:nvSpPr>
        <p:spPr>
          <a:xfrm>
            <a:off x="685800" y="457200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PPI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52400" y="1371600"/>
            <a:ext cx="8839200" cy="526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0: Simple Input or 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mode, ports A, B are used as two simple 8-bit I/O ports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C as two 4-bit ports.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port can be programmed to function as simply an input port or an output port. The input/output features in Mode 0 are as follows.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Outputs are latched.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Inputs are not latched.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Ports don’t have handshake or interrupt capability.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82C55A Programmable Peripheral Interface (cont.)</a:t>
            </a:r>
            <a:endParaRPr/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0 – Simple I/O operation</a:t>
            </a:r>
            <a:endParaRPr/>
          </a:p>
        </p:txBody>
      </p:sp>
      <p:pic>
        <p:nvPicPr>
          <p:cNvPr descr="c:\windows\TEMP\~AUT0057.bmp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3837" y="1571625"/>
            <a:ext cx="1641475" cy="52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2339975" y="5661025"/>
            <a:ext cx="31559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 0 port pin functions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76400"/>
            <a:ext cx="78486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–Mode 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/>
        </p:nvSpPr>
        <p:spPr>
          <a:xfrm>
            <a:off x="914400" y="533400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PPI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228600" y="1295400"/>
            <a:ext cx="78486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1: Input or Output with Handshake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mode, handshake signals are exchanged between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MPU and peripherals prior to data transfer.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features of the mode include the following: 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Two ports (A and B) function as 8-bit I/O ports.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They can be configured as either as input or output ports.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Each port uses three lines from Port C as handshake signals.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The remaining two lines of Port C can be used for simple I/O operations.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Input and Output data are latched.</a:t>
            </a: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Interrupt logic is supported.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457200" y="16462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1 – Strobed I/O</a:t>
            </a:r>
            <a:endParaRPr/>
          </a:p>
        </p:txBody>
      </p:sp>
      <p:pic>
        <p:nvPicPr>
          <p:cNvPr descr="c:\windows\TEMP\~AUT0061.bmp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228600"/>
            <a:ext cx="53848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/>
        </p:nvSpPr>
        <p:spPr>
          <a:xfrm>
            <a:off x="228600" y="9144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Handshake interrupt i/p port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0" y="1676400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381000" y="1371600"/>
            <a:ext cx="8458200" cy="485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i/p device has data to send it checks if IBF (input buffer full) signal is 0.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0, it sends data on PB7-0 and activates STB* (Strobe) signal. STB* is active low.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STB* goes high, the data enters the port and IBF gets activated.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Port interrupt is enabled, INT is activated. This interrupts the processor.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Processor reads the port during the ISS. Then IBF and INT get deactivated.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82C55: Mode 1 Strobed Input</a:t>
            </a:r>
            <a:endParaRPr/>
          </a:p>
        </p:txBody>
      </p:sp>
      <p:pic>
        <p:nvPicPr>
          <p:cNvPr descr="8086_IO2-8" id="248" name="Google Shape;24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341437"/>
            <a:ext cx="7704137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211637" y="6491287"/>
            <a:ext cx="4375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 definitions for Mode 1 Strobe Input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228600" y="9144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Handshake interrupt o/p port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0" y="1676400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381000" y="1371600"/>
            <a:ext cx="84582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304800" y="1447800"/>
            <a:ext cx="8458200" cy="485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o/p device wants to receive data it checks if OBF* (output buffer full) signal is 0.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0, it receives data on Port and activates ACK* (Acknowledge) signal. ACK* is active low.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ACK* goes high, the data goes out of the port and OBF* is set to 1.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Port interrupt is enabled, INT is activated. This interrupts the processor.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Processor sends another byte to the port during the ISS. Then OBF* and INT are reset to 0.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 : Mode 1 Output Exam.</a:t>
            </a:r>
            <a:endParaRPr/>
          </a:p>
        </p:txBody>
      </p:sp>
      <p:pic>
        <p:nvPicPr>
          <p:cNvPr descr="8086_IO2-11" id="265" name="Google Shape;26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737" y="1585912"/>
            <a:ext cx="618172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1371600" y="304800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PPI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127000" y="1066800"/>
            <a:ext cx="9017000" cy="563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2: Bidirectional Data Transfer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mode is used primarily in applications such as data transfer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two computers.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mode, Port A can be configured as the bidirectional port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B either in Mode 0 or Mode 1.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A uses five signals from Port C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handshake signals for data transfer.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remaining three signals from port C can be used either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simple I/O or as handshake for port B.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82C55: Mode 2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Bi-directional Operation</a:t>
            </a:r>
            <a:endParaRPr/>
          </a:p>
        </p:txBody>
      </p:sp>
      <p:pic>
        <p:nvPicPr>
          <p:cNvPr descr="8086_IO2-13" id="279" name="Google Shape;279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907" l="25892" r="22835" t="10064"/>
          <a:stretch/>
        </p:blipFill>
        <p:spPr>
          <a:xfrm>
            <a:off x="971550" y="1341437"/>
            <a:ext cx="5256212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250825" y="5949950"/>
            <a:ext cx="84248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 diagram is a combination of the Mode 1 Strobed Input and Mode 1 Strobed Output Timing diagrams.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2 Timing Diagram</a:t>
            </a:r>
            <a:endParaRPr/>
          </a:p>
        </p:txBody>
      </p:sp>
      <p:pic>
        <p:nvPicPr>
          <p:cNvPr id="286" name="Google Shape;286;p29"/>
          <p:cNvPicPr preferRelativeResize="0"/>
          <p:nvPr>
            <p:ph idx="1" type="body"/>
          </p:nvPr>
        </p:nvPicPr>
        <p:blipFill rotWithShape="1">
          <a:blip r:embed="rId3">
            <a:alphaModFix amt="70195"/>
          </a:blip>
          <a:srcRect b="0" l="0" r="0" t="0"/>
          <a:stretch/>
        </p:blipFill>
        <p:spPr>
          <a:xfrm>
            <a:off x="0" y="1268412"/>
            <a:ext cx="9144000" cy="558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44196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276600"/>
            <a:ext cx="44958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304800"/>
            <a:ext cx="40386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700" y="3276600"/>
            <a:ext cx="41529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82C55A Programmable Peripheral Interface (cont.)</a:t>
            </a:r>
            <a:endParaRPr/>
          </a:p>
        </p:txBody>
      </p:sp>
      <p:sp>
        <p:nvSpPr>
          <p:cNvPr id="300" name="Google Shape;300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mode and I/O configuration for ports A, B, and C of an 82C55A after its control register is loaded with 82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1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Expressing the control register contents in binary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form, we get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10000010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1, the modes of operation of the ports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selected by the control word.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 Lower four bits of port C are outputs.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 Port B is an input port.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 Mode 0 for both port B and the lower four bits of 	    port C.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windows\TEMP\~AUT0139.bmp" id="305" name="Google Shape;30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12" y="4011612"/>
            <a:ext cx="3841750" cy="2846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82C55A Programmable Peripheral Interface (cont.)</a:t>
            </a:r>
            <a:endParaRPr/>
          </a:p>
        </p:txBody>
      </p:sp>
      <p:sp>
        <p:nvSpPr>
          <p:cNvPr id="307" name="Google Shape;307;p3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next for bits configure the upper part of port C and port A: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 	Upper four bits of port C are outputs.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 	Port A is an output port.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00 Mode 0 for both port A and the 			upper four bits of port 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/>
        </p:nvSpPr>
        <p:spPr>
          <a:xfrm>
            <a:off x="6629400" y="4572000"/>
            <a:ext cx="2286000" cy="137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0" y="914400"/>
            <a:ext cx="632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MD Control word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33"/>
          <p:cNvGraphicFramePr/>
          <p:nvPr/>
        </p:nvGraphicFramePr>
        <p:xfrm>
          <a:off x="152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57225"/>
                <a:gridCol w="461950"/>
                <a:gridCol w="609600"/>
                <a:gridCol w="533400"/>
                <a:gridCol w="609600"/>
                <a:gridCol w="609600"/>
                <a:gridCol w="685800"/>
                <a:gridCol w="533400"/>
                <a:gridCol w="609600"/>
                <a:gridCol w="609600"/>
                <a:gridCol w="457200"/>
                <a:gridCol w="182550"/>
                <a:gridCol w="2179625"/>
              </a:tblGrid>
              <a:tr h="13001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Ex. 1: Configure Port A as i/p in Mode 0, Port B as o/p in mode 0, Port C (Lower) as o/p and Port C (Upper) as i/p ports.  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93700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MD control word: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37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 control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Lower as o/p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in Mode 0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as o/p   Reqd. instrns.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as i/p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in Mode 0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AL, 98H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Upper as i/p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 7FH, AL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</a:tbl>
          </a:graphicData>
        </a:graphic>
      </p:graphicFrame>
      <p:cxnSp>
        <p:nvCxnSpPr>
          <p:cNvPr id="316" name="Google Shape;316;p33"/>
          <p:cNvCxnSpPr/>
          <p:nvPr/>
        </p:nvCxnSpPr>
        <p:spPr>
          <a:xfrm>
            <a:off x="5257800" y="38862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7" name="Google Shape;317;p33"/>
          <p:cNvCxnSpPr/>
          <p:nvPr/>
        </p:nvCxnSpPr>
        <p:spPr>
          <a:xfrm>
            <a:off x="5867400" y="3886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8" name="Google Shape;318;p33"/>
          <p:cNvCxnSpPr/>
          <p:nvPr/>
        </p:nvCxnSpPr>
        <p:spPr>
          <a:xfrm>
            <a:off x="1676400" y="3886200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9" name="Google Shape;319;p33"/>
          <p:cNvCxnSpPr/>
          <p:nvPr/>
        </p:nvCxnSpPr>
        <p:spPr>
          <a:xfrm>
            <a:off x="3429000" y="3886200"/>
            <a:ext cx="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0" name="Google Shape;320;p33"/>
          <p:cNvCxnSpPr/>
          <p:nvPr/>
        </p:nvCxnSpPr>
        <p:spPr>
          <a:xfrm>
            <a:off x="4038600" y="3810000"/>
            <a:ext cx="0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1" name="Google Shape;321;p33"/>
          <p:cNvCxnSpPr/>
          <p:nvPr/>
        </p:nvCxnSpPr>
        <p:spPr>
          <a:xfrm>
            <a:off x="4648200" y="38100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2" name="Google Shape;322;p33"/>
          <p:cNvCxnSpPr/>
          <p:nvPr/>
        </p:nvCxnSpPr>
        <p:spPr>
          <a:xfrm>
            <a:off x="2057400" y="3886200"/>
            <a:ext cx="106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3" name="Google Shape;323;p33"/>
          <p:cNvCxnSpPr/>
          <p:nvPr/>
        </p:nvCxnSpPr>
        <p:spPr>
          <a:xfrm>
            <a:off x="2590800" y="38862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24" name="Google Shape;324;p3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/>
        </p:nvSpPr>
        <p:spPr>
          <a:xfrm>
            <a:off x="6705600" y="4419600"/>
            <a:ext cx="2286000" cy="1524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0" y="914400"/>
            <a:ext cx="632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MD Control word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2" name="Google Shape;332;p34"/>
          <p:cNvGraphicFramePr/>
          <p:nvPr/>
        </p:nvGraphicFramePr>
        <p:xfrm>
          <a:off x="152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76275"/>
                <a:gridCol w="474650"/>
                <a:gridCol w="625475"/>
                <a:gridCol w="182550"/>
                <a:gridCol w="365125"/>
                <a:gridCol w="625475"/>
                <a:gridCol w="625475"/>
                <a:gridCol w="703250"/>
                <a:gridCol w="547675"/>
                <a:gridCol w="625475"/>
                <a:gridCol w="625475"/>
                <a:gridCol w="468300"/>
                <a:gridCol w="187325"/>
                <a:gridCol w="2159000"/>
              </a:tblGrid>
              <a:tr h="1300150">
                <a:tc gridSpan="1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Ex. 2: Configure Port A as i/p in Mode 1, Port B as o/p in mode 1, Port C7-8 as i/p ports. (PC5-0 are handshake lines, some i/p lines and others o/p. So they are shown as X)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93700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MD control word: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BCH or BDH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02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 control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PC3-0 as don’t care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in Mode 1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as o/p   Reqd. Instrns.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as i/p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in Mode 1 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AL,BCH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Upper(C7-8) as i/p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 7FH, AL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</a:tbl>
          </a:graphicData>
        </a:graphic>
      </p:graphicFrame>
      <p:cxnSp>
        <p:nvCxnSpPr>
          <p:cNvPr id="333" name="Google Shape;333;p34"/>
          <p:cNvCxnSpPr/>
          <p:nvPr/>
        </p:nvCxnSpPr>
        <p:spPr>
          <a:xfrm>
            <a:off x="5257800" y="38862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4" name="Google Shape;334;p34"/>
          <p:cNvCxnSpPr/>
          <p:nvPr/>
        </p:nvCxnSpPr>
        <p:spPr>
          <a:xfrm>
            <a:off x="5867400" y="3886200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5" name="Google Shape;335;p34"/>
          <p:cNvCxnSpPr/>
          <p:nvPr/>
        </p:nvCxnSpPr>
        <p:spPr>
          <a:xfrm>
            <a:off x="1676400" y="3886200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6" name="Google Shape;336;p34"/>
          <p:cNvCxnSpPr/>
          <p:nvPr/>
        </p:nvCxnSpPr>
        <p:spPr>
          <a:xfrm>
            <a:off x="3429000" y="3886200"/>
            <a:ext cx="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7" name="Google Shape;337;p34"/>
          <p:cNvCxnSpPr/>
          <p:nvPr/>
        </p:nvCxnSpPr>
        <p:spPr>
          <a:xfrm>
            <a:off x="4038600" y="3886200"/>
            <a:ext cx="0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8" name="Google Shape;338;p34"/>
          <p:cNvCxnSpPr/>
          <p:nvPr/>
        </p:nvCxnSpPr>
        <p:spPr>
          <a:xfrm>
            <a:off x="4648200" y="38862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9" name="Google Shape;339;p34"/>
          <p:cNvCxnSpPr/>
          <p:nvPr/>
        </p:nvCxnSpPr>
        <p:spPr>
          <a:xfrm>
            <a:off x="2057400" y="3886200"/>
            <a:ext cx="106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0" name="Google Shape;340;p34"/>
          <p:cNvCxnSpPr/>
          <p:nvPr/>
        </p:nvCxnSpPr>
        <p:spPr>
          <a:xfrm>
            <a:off x="2667000" y="38862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1" name="Google Shape;341;p3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/>
        </p:nvSpPr>
        <p:spPr>
          <a:xfrm>
            <a:off x="6629400" y="4495800"/>
            <a:ext cx="2286000" cy="1447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228600" y="91440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MD Control word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348" name="Google Shape;348;p35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35"/>
          <p:cNvGraphicFramePr/>
          <p:nvPr/>
        </p:nvGraphicFramePr>
        <p:xfrm>
          <a:off x="152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57225"/>
                <a:gridCol w="461950"/>
                <a:gridCol w="609600"/>
                <a:gridCol w="533400"/>
                <a:gridCol w="609600"/>
                <a:gridCol w="609600"/>
                <a:gridCol w="685800"/>
                <a:gridCol w="533400"/>
                <a:gridCol w="609600"/>
                <a:gridCol w="609600"/>
                <a:gridCol w="457200"/>
                <a:gridCol w="182550"/>
                <a:gridCol w="2179625"/>
              </a:tblGrid>
              <a:tr h="1300150">
                <a:tc gridSpan="1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Ex. 3:Configure Port A in Mode 2, Port B as o/p in mode 1. (PC5-0 are handshake lines for Port A and PC2-0 are handshake signals for port B)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93700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MD control word: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C4H / C5H..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37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 control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PC3-0 as handshake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in Mode 2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as o/p   Reqd. instrns.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5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 bidirectional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PB in Mode 1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AL, C4H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PC7-0 as handshake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 7FH, AL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</a:tbl>
          </a:graphicData>
        </a:graphic>
      </p:graphicFrame>
      <p:cxnSp>
        <p:nvCxnSpPr>
          <p:cNvPr id="350" name="Google Shape;350;p35"/>
          <p:cNvCxnSpPr/>
          <p:nvPr/>
        </p:nvCxnSpPr>
        <p:spPr>
          <a:xfrm>
            <a:off x="1524000" y="3886200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1" name="Google Shape;351;p35"/>
          <p:cNvCxnSpPr/>
          <p:nvPr/>
        </p:nvCxnSpPr>
        <p:spPr>
          <a:xfrm>
            <a:off x="2133600" y="38862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2" name="Google Shape;352;p35"/>
          <p:cNvCxnSpPr/>
          <p:nvPr/>
        </p:nvCxnSpPr>
        <p:spPr>
          <a:xfrm>
            <a:off x="2590800" y="38862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35"/>
          <p:cNvCxnSpPr/>
          <p:nvPr/>
        </p:nvCxnSpPr>
        <p:spPr>
          <a:xfrm>
            <a:off x="3429000" y="3886200"/>
            <a:ext cx="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4" name="Google Shape;354;p35"/>
          <p:cNvCxnSpPr/>
          <p:nvPr/>
        </p:nvCxnSpPr>
        <p:spPr>
          <a:xfrm>
            <a:off x="4038600" y="3886200"/>
            <a:ext cx="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5" name="Google Shape;355;p35"/>
          <p:cNvCxnSpPr/>
          <p:nvPr/>
        </p:nvCxnSpPr>
        <p:spPr>
          <a:xfrm>
            <a:off x="4648200" y="3886200"/>
            <a:ext cx="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6" name="Google Shape;356;p35"/>
          <p:cNvCxnSpPr/>
          <p:nvPr/>
        </p:nvCxnSpPr>
        <p:spPr>
          <a:xfrm>
            <a:off x="5257800" y="38862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7" name="Google Shape;357;p35"/>
          <p:cNvCxnSpPr/>
          <p:nvPr/>
        </p:nvCxnSpPr>
        <p:spPr>
          <a:xfrm>
            <a:off x="5943600" y="3886200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8" name="Google Shape;358;p3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/>
        </p:nvSpPr>
        <p:spPr>
          <a:xfrm>
            <a:off x="228600" y="914400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PCBSR Control word</a:t>
            </a:r>
            <a:endParaRPr/>
          </a:p>
        </p:txBody>
      </p:sp>
      <p:sp>
        <p:nvSpPr>
          <p:cNvPr id="364" name="Google Shape;364;p36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5" name="Google Shape;365;p36"/>
          <p:cNvGraphicFramePr/>
          <p:nvPr/>
        </p:nvGraphicFramePr>
        <p:xfrm>
          <a:off x="381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17550"/>
                <a:gridCol w="501650"/>
                <a:gridCol w="533400"/>
                <a:gridCol w="533400"/>
                <a:gridCol w="533400"/>
                <a:gridCol w="533400"/>
                <a:gridCol w="685800"/>
                <a:gridCol w="182550"/>
                <a:gridCol w="427025"/>
                <a:gridCol w="411150"/>
                <a:gridCol w="198425"/>
                <a:gridCol w="685800"/>
                <a:gridCol w="914400"/>
                <a:gridCol w="657225"/>
                <a:gridCol w="377825"/>
                <a:gridCol w="717550"/>
              </a:tblGrid>
              <a:tr h="487350">
                <a:tc gridSpan="1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port having Port C Bit Set / Reset control word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SB2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SB1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SB0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S/R*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8950">
                <a:tc gridSpan="3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bit set / reset control word</a:t>
                      </a:r>
                      <a:endParaRPr/>
                    </a:p>
                  </a:txBody>
                  <a:tcPr marT="45700" marB="45700" marR="91450" marL="91450" anchor="b"/>
                </a:tc>
                <a:tc rowSpan="4" hMerge="1"/>
                <a:tc rowSpan="4"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6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bit of PC to be set / reset</a:t>
                      </a:r>
                      <a:endParaRPr/>
                    </a:p>
                  </a:txBody>
                  <a:tcPr marT="45700" marB="45700" marR="91450" marL="9145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rowSpan="2" hMerge="1"/>
                <a:tc rowSpan="2" hMerge="1"/>
                <a:tc rowSpan="2" hMerge="1"/>
                <a:tc rowSpan="2" hMerge="1"/>
                <a:tc gridSpan="4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1 - Set to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0 - Reset to 0</a:t>
                      </a:r>
                      <a:endParaRPr/>
                    </a:p>
                  </a:txBody>
                  <a:tcPr marT="45700" marB="45700" marR="91450" marL="91450"/>
                </a:tc>
                <a:tc rowSpan="2" hMerge="1"/>
                <a:tc rowSpan="2" hMerge="1"/>
                <a:tc rowSpan="2" hMerge="1"/>
              </a:tr>
              <a:tr h="474650">
                <a:tc gridSpan="3" vMerge="1"/>
                <a:tc hMerge="1" vMerge="1"/>
                <a:tc hMerge="1" vMerge="1"/>
                <a:tc gridSpan="3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 cares</a:t>
                      </a:r>
                      <a:endParaRPr/>
                    </a:p>
                  </a:txBody>
                  <a:tcPr marT="45700" marB="45700" marR="91450" marL="91450"/>
                </a:tc>
                <a:tc rowSpan="2" hMerge="1"/>
                <a:tc rowSpan="2" hMerge="1"/>
                <a:tc gridSpan="6" vMerge="1"/>
                <a:tc hMerge="1" vMerge="1"/>
                <a:tc hMerge="1" vMerge="1"/>
                <a:tc hMerge="1" vMerge="1"/>
                <a:tc hMerge="1" vMerge="1"/>
                <a:tc hMerge="1" vMerge="1"/>
                <a:tc gridSpan="4" vMerge="1"/>
                <a:tc hMerge="1" vMerge="1"/>
                <a:tc hMerge="1" vMerge="1"/>
                <a:tc hMerge="1" vMerge="1"/>
              </a:tr>
              <a:tr h="487350"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Bit 0 of Port C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</a:tr>
              <a:tr h="487350"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Bit 1 of Port C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Bit 7 of Port C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66" name="Google Shape;366;p36"/>
          <p:cNvCxnSpPr/>
          <p:nvPr/>
        </p:nvCxnSpPr>
        <p:spPr>
          <a:xfrm>
            <a:off x="1828800" y="25146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7" name="Google Shape;367;p36"/>
          <p:cNvCxnSpPr/>
          <p:nvPr/>
        </p:nvCxnSpPr>
        <p:spPr>
          <a:xfrm>
            <a:off x="2209800" y="25146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8" name="Google Shape;368;p36"/>
          <p:cNvCxnSpPr/>
          <p:nvPr/>
        </p:nvCxnSpPr>
        <p:spPr>
          <a:xfrm>
            <a:off x="2895600" y="2514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69" name="Google Shape;369;p36"/>
          <p:cNvCxnSpPr/>
          <p:nvPr/>
        </p:nvCxnSpPr>
        <p:spPr>
          <a:xfrm>
            <a:off x="3886200" y="2514600"/>
            <a:ext cx="2362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0" name="Google Shape;370;p36"/>
          <p:cNvCxnSpPr/>
          <p:nvPr/>
        </p:nvCxnSpPr>
        <p:spPr>
          <a:xfrm>
            <a:off x="5029200" y="2514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1" name="Google Shape;371;p36"/>
          <p:cNvSpPr/>
          <p:nvPr/>
        </p:nvSpPr>
        <p:spPr>
          <a:xfrm>
            <a:off x="6477000" y="2743200"/>
            <a:ext cx="76200" cy="762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36"/>
          <p:cNvCxnSpPr/>
          <p:nvPr/>
        </p:nvCxnSpPr>
        <p:spPr>
          <a:xfrm flipH="1">
            <a:off x="6248400" y="2514600"/>
            <a:ext cx="1524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3" name="Google Shape;373;p36"/>
          <p:cNvCxnSpPr/>
          <p:nvPr/>
        </p:nvCxnSpPr>
        <p:spPr>
          <a:xfrm>
            <a:off x="6248400" y="3124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74" name="Google Shape;374;p36"/>
          <p:cNvCxnSpPr/>
          <p:nvPr/>
        </p:nvCxnSpPr>
        <p:spPr>
          <a:xfrm>
            <a:off x="541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75" name="Google Shape;375;p36"/>
          <p:cNvCxnSpPr/>
          <p:nvPr/>
        </p:nvCxnSpPr>
        <p:spPr>
          <a:xfrm>
            <a:off x="5410200" y="4267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76" name="Google Shape;376;p36"/>
          <p:cNvCxnSpPr/>
          <p:nvPr/>
        </p:nvCxnSpPr>
        <p:spPr>
          <a:xfrm>
            <a:off x="5410200" y="5715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7" name="Google Shape;377;p3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/>
        </p:nvSpPr>
        <p:spPr>
          <a:xfrm>
            <a:off x="5562600" y="3505200"/>
            <a:ext cx="3429000" cy="1600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228600" y="914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PCBSR Control word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5" name="Google Shape;385;p37"/>
          <p:cNvGraphicFramePr/>
          <p:nvPr/>
        </p:nvGraphicFramePr>
        <p:xfrm>
          <a:off x="381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17550"/>
                <a:gridCol w="501650"/>
                <a:gridCol w="533400"/>
                <a:gridCol w="533400"/>
                <a:gridCol w="533400"/>
                <a:gridCol w="533400"/>
                <a:gridCol w="685800"/>
                <a:gridCol w="182550"/>
                <a:gridCol w="427025"/>
                <a:gridCol w="411150"/>
                <a:gridCol w="198425"/>
                <a:gridCol w="685800"/>
                <a:gridCol w="914400"/>
                <a:gridCol w="457200"/>
                <a:gridCol w="200025"/>
                <a:gridCol w="377825"/>
                <a:gridCol w="717550"/>
              </a:tblGrid>
              <a:tr h="487350">
                <a:tc gridSpan="1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Ex. 2: Reset to 0 bit 6 of Port C 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0CH,…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</a:tr>
              <a:tr h="488950">
                <a:tc gridSpan="3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bit set / reset control word</a:t>
                      </a:r>
                      <a:endParaRPr/>
                    </a:p>
                  </a:txBody>
                  <a:tcPr marT="45700" marB="45700" marR="91450" marL="91450" anchor="b"/>
                </a:tc>
                <a:tc rowSpan="4" hMerge="1"/>
                <a:tc rowSpan="4"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6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 6 of PC</a:t>
                      </a:r>
                      <a:endParaRPr/>
                    </a:p>
                  </a:txBody>
                  <a:tcPr marT="45700" marB="45700" marR="91450" marL="9145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rowSpan="2" hMerge="1"/>
                <a:tc rowSpan="2" hMerge="1"/>
                <a:tc rowSpan="2" hMerge="1"/>
                <a:tc rowSpan="2" hMerge="1"/>
                <a:tc gridSpan="5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Reset to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/>
                    </a:p>
                  </a:txBody>
                  <a:tcPr marT="45700" marB="45700" marR="91450" marL="91450" anchor="b"/>
                </a:tc>
                <a:tc rowSpan="2" hMerge="1"/>
                <a:tc rowSpan="2" hMerge="1"/>
                <a:tc rowSpan="2" hMerge="1"/>
                <a:tc rowSpan="2" hMerge="1"/>
              </a:tr>
              <a:tr h="474650">
                <a:tc gridSpan="3" vMerge="1"/>
                <a:tc hMerge="1" vMerge="1"/>
                <a:tc hMerge="1" vMerge="1"/>
                <a:tc gridSpan="3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 cares</a:t>
                      </a:r>
                      <a:endParaRPr/>
                    </a:p>
                  </a:txBody>
                  <a:tcPr marT="45700" marB="45700" marR="91450" marL="91450"/>
                </a:tc>
                <a:tc rowSpan="2" hMerge="1"/>
                <a:tc rowSpan="2" hMerge="1"/>
                <a:tc gridSpan="6" vMerge="1"/>
                <a:tc hMerge="1" vMerge="1"/>
                <a:tc hMerge="1" vMerge="1"/>
                <a:tc hMerge="1" vMerge="1"/>
                <a:tc hMerge="1" vMerge="1"/>
                <a:tc hMerge="1" vMerge="1"/>
                <a:tc gridSpan="5" vMerge="1"/>
                <a:tc hMerge="1" vMerge="1"/>
                <a:tc hMerge="1" vMerge="1"/>
                <a:tc hMerge="1" vMerge="1"/>
                <a:tc hMerge="1" vMerge="1"/>
              </a:tr>
              <a:tr h="487350"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instructions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  <a:tr h="487350"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AL, 0CH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 7FH, AL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86" name="Google Shape;386;p37"/>
          <p:cNvCxnSpPr/>
          <p:nvPr/>
        </p:nvCxnSpPr>
        <p:spPr>
          <a:xfrm>
            <a:off x="1828800" y="25146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87" name="Google Shape;387;p37"/>
          <p:cNvCxnSpPr/>
          <p:nvPr/>
        </p:nvCxnSpPr>
        <p:spPr>
          <a:xfrm>
            <a:off x="2209800" y="25146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8" name="Google Shape;388;p37"/>
          <p:cNvCxnSpPr/>
          <p:nvPr/>
        </p:nvCxnSpPr>
        <p:spPr>
          <a:xfrm>
            <a:off x="2895600" y="2514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89" name="Google Shape;389;p37"/>
          <p:cNvCxnSpPr/>
          <p:nvPr/>
        </p:nvCxnSpPr>
        <p:spPr>
          <a:xfrm>
            <a:off x="3886200" y="2514600"/>
            <a:ext cx="2362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0" name="Google Shape;390;p37"/>
          <p:cNvCxnSpPr/>
          <p:nvPr/>
        </p:nvCxnSpPr>
        <p:spPr>
          <a:xfrm>
            <a:off x="5029200" y="25146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91" name="Google Shape;391;p37"/>
          <p:cNvCxnSpPr/>
          <p:nvPr/>
        </p:nvCxnSpPr>
        <p:spPr>
          <a:xfrm>
            <a:off x="6629400" y="24384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2" name="Google Shape;392;p37"/>
          <p:cNvCxnSpPr/>
          <p:nvPr/>
        </p:nvCxnSpPr>
        <p:spPr>
          <a:xfrm>
            <a:off x="6629400" y="28194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93" name="Google Shape;393;p3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/>
        </p:nvSpPr>
        <p:spPr>
          <a:xfrm>
            <a:off x="5562600" y="3505200"/>
            <a:ext cx="3429000" cy="1600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228600" y="914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PCBSR Control word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400" name="Google Shape;400;p38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1" name="Google Shape;401;p38"/>
          <p:cNvGraphicFramePr/>
          <p:nvPr/>
        </p:nvGraphicFramePr>
        <p:xfrm>
          <a:off x="381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717550"/>
                <a:gridCol w="501650"/>
                <a:gridCol w="533400"/>
                <a:gridCol w="533400"/>
                <a:gridCol w="533400"/>
                <a:gridCol w="533400"/>
                <a:gridCol w="685800"/>
                <a:gridCol w="182550"/>
                <a:gridCol w="427025"/>
                <a:gridCol w="411150"/>
                <a:gridCol w="198425"/>
                <a:gridCol w="685800"/>
                <a:gridCol w="914400"/>
                <a:gridCol w="457200"/>
                <a:gridCol w="200025"/>
                <a:gridCol w="377825"/>
                <a:gridCol w="717550"/>
              </a:tblGrid>
              <a:tr h="487350">
                <a:tc gridSpan="1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Ex. 1: Set to 1 bit 4 of Port C 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09H,…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</a:tr>
              <a:tr h="488950">
                <a:tc gridSpan="3"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 bit set / reset control word</a:t>
                      </a:r>
                      <a:endParaRPr/>
                    </a:p>
                  </a:txBody>
                  <a:tcPr marT="45700" marB="45700" marR="91450" marL="91450" anchor="b"/>
                </a:tc>
                <a:tc rowSpan="4" hMerge="1"/>
                <a:tc rowSpan="4"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6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 4 of PC</a:t>
                      </a:r>
                      <a:endParaRPr/>
                    </a:p>
                  </a:txBody>
                  <a:tcPr marT="45700" marB="45700" marR="91450" marL="9145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rowSpan="2" hMerge="1"/>
                <a:tc rowSpan="2" hMerge="1"/>
                <a:tc rowSpan="2" hMerge="1"/>
                <a:tc rowSpan="2" hMerge="1"/>
                <a:tc gridSpan="5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Set to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/>
                    </a:p>
                  </a:txBody>
                  <a:tcPr marT="45700" marB="45700" marR="91450" marL="91450" anchor="b"/>
                </a:tc>
                <a:tc rowSpan="2" hMerge="1"/>
                <a:tc rowSpan="2" hMerge="1"/>
                <a:tc rowSpan="2" hMerge="1"/>
                <a:tc rowSpan="2" hMerge="1"/>
              </a:tr>
              <a:tr h="474650">
                <a:tc gridSpan="3" vMerge="1"/>
                <a:tc hMerge="1" vMerge="1"/>
                <a:tc hMerge="1" vMerge="1"/>
                <a:tc gridSpan="3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 cares</a:t>
                      </a:r>
                      <a:endParaRPr/>
                    </a:p>
                  </a:txBody>
                  <a:tcPr marT="45700" marB="45700" marR="91450" marL="91450"/>
                </a:tc>
                <a:tc rowSpan="2" hMerge="1"/>
                <a:tc rowSpan="2" hMerge="1"/>
                <a:tc gridSpan="6" vMerge="1"/>
                <a:tc hMerge="1" vMerge="1"/>
                <a:tc hMerge="1" vMerge="1"/>
                <a:tc hMerge="1" vMerge="1"/>
                <a:tc hMerge="1" vMerge="1"/>
                <a:tc hMerge="1" vMerge="1"/>
                <a:tc gridSpan="5" vMerge="1"/>
                <a:tc hMerge="1" vMerge="1"/>
                <a:tc hMerge="1" vMerge="1"/>
                <a:tc hMerge="1" vMerge="1"/>
                <a:tc hMerge="1" vMerge="1"/>
              </a:tr>
              <a:tr h="487350"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Required instructions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  <a:tr h="487350"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 AL, 09H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 7FH, AL</a:t>
                      </a:r>
                      <a:endParaRPr/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</a:tr>
              <a:tr h="48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402" name="Google Shape;402;p38"/>
          <p:cNvCxnSpPr/>
          <p:nvPr/>
        </p:nvCxnSpPr>
        <p:spPr>
          <a:xfrm>
            <a:off x="1828800" y="25146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2209800" y="25146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4" name="Google Shape;404;p38"/>
          <p:cNvCxnSpPr/>
          <p:nvPr/>
        </p:nvCxnSpPr>
        <p:spPr>
          <a:xfrm>
            <a:off x="2895600" y="251460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05" name="Google Shape;405;p38"/>
          <p:cNvCxnSpPr/>
          <p:nvPr/>
        </p:nvCxnSpPr>
        <p:spPr>
          <a:xfrm>
            <a:off x="3886200" y="2514600"/>
            <a:ext cx="2362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6" name="Google Shape;406;p38"/>
          <p:cNvCxnSpPr/>
          <p:nvPr/>
        </p:nvCxnSpPr>
        <p:spPr>
          <a:xfrm>
            <a:off x="5029200" y="25146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07" name="Google Shape;407;p38"/>
          <p:cNvCxnSpPr/>
          <p:nvPr/>
        </p:nvCxnSpPr>
        <p:spPr>
          <a:xfrm>
            <a:off x="6629400" y="24384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8" name="Google Shape;408;p38"/>
          <p:cNvCxnSpPr/>
          <p:nvPr/>
        </p:nvCxnSpPr>
        <p:spPr>
          <a:xfrm>
            <a:off x="6629400" y="28194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09" name="Google Shape;409;p3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/>
          <p:nvPr/>
        </p:nvSpPr>
        <p:spPr>
          <a:xfrm>
            <a:off x="609600" y="457200"/>
            <a:ext cx="746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Handshake signals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6" name="Google Shape;416;p39"/>
          <p:cNvGraphicFramePr/>
          <p:nvPr/>
        </p:nvGraphicFramePr>
        <p:xfrm>
          <a:off x="304800" y="164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8458200"/>
              </a:tblGrid>
              <a:tr h="382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 are the Handshake signals?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1" sz="9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C pins act as handshake signals, when Port A and Port B are configured for other than  Mode 0.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0" sz="9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A in Mode 2 and Port B in Mode 1 is possible, as it needs only 5+3 = 8 handshake signals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b="0" i="0" sz="9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Reset of 8255, Port A , Port B , and Port C are configured for Mode 0 operation as input ports.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7" name="Google Shape;417;p3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/>
        </p:nvSpPr>
        <p:spPr>
          <a:xfrm>
            <a:off x="457200" y="457200"/>
            <a:ext cx="746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Handshake signals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423" name="Google Shape;423;p40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4" name="Google Shape;424;p40"/>
          <p:cNvGraphicFramePr/>
          <p:nvPr/>
        </p:nvGraphicFramePr>
        <p:xfrm>
          <a:off x="304800" y="164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8458200"/>
              </a:tblGrid>
              <a:tr h="460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PC2-0 are used as handshake signals by Port B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 configured in Mode 1. This is immaterial whether Port B is configured as i/p or o/p port.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i="0" sz="6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PC5-3 are used as handshake signals by Port A when configured as i/p port in Mode 1.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i="0" sz="6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PC7,6,3 are used as handshake signals by Port A when configured as o/p port in Mode 1.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Calibri"/>
                        <a:buNone/>
                      </a:pPr>
                      <a:r>
                        <a:t/>
                      </a:r>
                      <a:endParaRPr b="0" i="0" sz="6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PC7-3 are used as handshake signals by Port A when configured in Mode 2. </a:t>
                      </a:r>
                      <a:endParaRPr/>
                    </a:p>
                  </a:txBody>
                  <a:tcPr marT="45700" marB="45700" marR="91450" marL="91450"/>
                </a:tc>
              </a:tr>
            </a:tbl>
          </a:graphicData>
        </a:graphic>
      </p:graphicFrame>
      <p:sp>
        <p:nvSpPr>
          <p:cNvPr id="425" name="Google Shape;425;p4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/>
        </p:nvSpPr>
        <p:spPr>
          <a:xfrm>
            <a:off x="0" y="914400"/>
            <a:ext cx="693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8255 PPI </a:t>
            </a:r>
            <a:r>
              <a:rPr b="0" i="0" lang="en-US" sz="24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Contd.</a:t>
            </a:r>
            <a:endParaRPr/>
          </a:p>
        </p:txBody>
      </p:sp>
      <p:sp>
        <p:nvSpPr>
          <p:cNvPr id="431" name="Google Shape;431;p41"/>
          <p:cNvSpPr txBox="1"/>
          <p:nvPr/>
        </p:nvSpPr>
        <p:spPr>
          <a:xfrm>
            <a:off x="212725" y="1870075"/>
            <a:ext cx="8702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2" name="Google Shape;432;p41"/>
          <p:cNvGraphicFramePr/>
          <p:nvPr/>
        </p:nvGraphicFramePr>
        <p:xfrm>
          <a:off x="30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{CBF17DE3-FC8E-47CB-9663-A69A20EEB18D}</a:tableStyleId>
              </a:tblPr>
              <a:tblGrid>
                <a:gridCol w="8458200"/>
              </a:tblGrid>
              <a:tr h="351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A can work in Mode 0, Mode 1, or Mode 2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B can work in Mode 0, or Mode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C can work in Mode 0 only, </a:t>
                      </a:r>
                      <a:r>
                        <a:rPr b="0" i="0" lang="en-US" sz="2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at all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A, Port B and Port C can work in Mode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 A and Port B can work in Mode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Port A can work in Mode 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3" name="Google Shape;433;p4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2010-09-04T05:37:47Z</dcterms:created>
  <dc:creator>narmada</dc:creator>
</cp:coreProperties>
</file>